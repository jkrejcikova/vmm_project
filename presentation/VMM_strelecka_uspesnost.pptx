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965960"/>
            <a:ext cx="11185855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200" b="1">
                <a:solidFill>
                  <a:srgbClr val="FFFFFF"/>
                </a:solidFill>
              </a:rPr>
              <a:t>Střelecká úspěšnost</a:t>
            </a:r>
          </a:p>
          <a:p>
            <a:r>
              <a:rPr sz="2000">
                <a:solidFill>
                  <a:srgbClr val="D7E3EE"/>
                </a:solidFill>
              </a:rPr>
              <a:t>Multivariační analýza střel: ANOVA, PCA, shlukování a logistický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977639"/>
            <a:ext cx="11185855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D7E3EE"/>
                </a:solidFill>
              </a:rPr>
              <a:t>• data: data/shots_outcome_Final.csv — 1000 záznamů o střelách, 12 střelců, 301 zápasů, 2014–2020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D7E3EE"/>
                </a:solidFill>
              </a:rPr>
              <a:t>• metody: ANOVA · MANOVA · χ² test · PCA a faktorová analýza · Wardova metoda · K-means · logistická regrese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D7E3EE"/>
                </a:solidFill>
              </a:rPr>
              <a:t>• výstupy: 35 grafů, 25 tabulek a protokol outputs/vysledky.md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D7E3EE"/>
                </a:solidFill>
              </a:rPr>
              <a:t>• reprodukovatelnost: uv run python src/analysis.py → uv run python src/make_presentation.py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Data a předzpracování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co jsme se souřadnicemi, chybějícími hodnotami a extrémy udělali, než jsme začali testovat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489204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Souřadnice X, Y byly v souboru v rozsahu 0–1, podle zadání jsme je přeškálovali na 100 × 100 jednotek hřiště.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Z analýzy jsme vyloučili 2 záznamy, které nedávají smysl pro pokus o gól na brance soupeře (důvody: Vlastní gól — rána na vlastní branku).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Kategorické proměnné shotType, lastAction a player_assisted jsme doplnili vlastní kategorií „Neznámý“ — chybějící záznam sám o sobě nese informaci (typicky střela bez přihrávky).</a:t>
            </a:r>
          </a:p>
        </p:txBody>
      </p:sp>
      <p:pic>
        <p:nvPicPr>
          <p:cNvPr id="4" name="Picture 3" descr="03_mapa_st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63040"/>
            <a:ext cx="5989320" cy="3683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5971032"/>
            <a:ext cx="59893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Postavení střel na hřišti podle výsledku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Kvalita dat: chybějící hodnoty a odlehlé střely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chybějící souřadnice řešíme vynecháním (ne imputací), odlehlé hodnoty neodstraňujeme mlčky</a:t>
            </a:r>
          </a:p>
        </p:txBody>
      </p:sp>
      <p:pic>
        <p:nvPicPr>
          <p:cNvPr id="3" name="Picture 2" descr="01_chybejici_hodno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440680" cy="27308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Chybějící hodnoty podle proměnné</a:t>
            </a:r>
          </a:p>
        </p:txBody>
      </p:sp>
      <p:pic>
        <p:nvPicPr>
          <p:cNvPr id="5" name="Picture 4" descr="04_mahalanobis_chi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63040"/>
            <a:ext cx="5440680" cy="20393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5352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χ² diagram Mahalanobisových vzdáleností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Přehled vztahů mezi příznaky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distribuce příznaků a korelační matice před redukcí dimenze</a:t>
            </a:r>
          </a:p>
        </p:txBody>
      </p:sp>
      <p:pic>
        <p:nvPicPr>
          <p:cNvPr id="3" name="Picture 2" descr="05_korelacni_ma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440680" cy="24177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Korelační matice příznaků</a:t>
            </a:r>
          </a:p>
        </p:txBody>
      </p:sp>
      <p:pic>
        <p:nvPicPr>
          <p:cNvPr id="5" name="Picture 4" descr="02_distribu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63040"/>
            <a:ext cx="5440680" cy="32396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5352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Rozdělení numerických příznaků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Hypotézy: H0 a H1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vše se testuje na α = 0,05 a vždy s explicitním závěrem „H0 zamítáme“ / „H0 nezamítáme“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60020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120640"/>
                <a:gridCol w="5120640"/>
              </a:tblGrid>
              <a:tr h="8412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hypotéza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H0 (nulová hypotéza)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H1 (alternativní hypotéza)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střední hodnoty parametrů střely (xG, vzdálenost od branky, úhel pohledu) jsou ve všech typech zakončení i herních situacích shodné.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alespoň jedna skupina se liší.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H2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soubor příznaků (xG, vzdálenost, úhel pohledu, X, Y) nemá žádnou společnou korelační strukturu — korelační matice je jednotková a nelze ji vystihnout menším počtem dimenzí.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společná struktura existuje a stačí K &lt; 5 dimenzí.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soubor střel nemá žádnou přirozenou skupinovou strukturu — rozdělení příznaků je spojitý „mrak“ a jakýkoli rozklad na shluky je umělý.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v datech existují přirozené skupiny.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H4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ani jeden z příznaků (xG, vzdálenost od branky, úhel pohledu) neovlivňuje pravděpodobnost gólu — všechny regresní koeficienty kromě konstanty jsou nulové (model má shodnou shodu jako průměr).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</a:rPr>
                        <a:t>alespoň jeden příznak vliv má.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H1 — zakončení a herní situace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ANOVA, Welchův test, Kruskal–Wallis, MANOVA a χ² test nezávislosti; efekty měříme přes η² a ω²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489204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H1: H0 zamítáme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typ zakončení a herní situace prokazatelně ovlivňují geometrii střely (vzdálenost od branky a úhel pohledu).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Nejsilnější efekt: úhel odkrytý brankou [°] podle typu zakončení (η² = 0,169, ω² = 0,166), což je podle Cohenových měřítek (0,01 / 0,06 / 0,14) velký efekt.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Naopak kvalita šance měřená xG se podle typu zakončení nelíší (p = 0,4427, η² = 0,002) — střelci si způsob zakončení vybírají podle toho, odkud a za jaké situace střílejí, ne podle kvality šance.</a:t>
            </a:r>
          </a:p>
        </p:txBody>
      </p:sp>
      <p:pic>
        <p:nvPicPr>
          <p:cNvPr id="4" name="Picture 3" descr="16_profil_zakonce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989320" cy="34562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5971032"/>
            <a:ext cx="59893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Profil typů zakončení v prostoru parametrů střely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H1 — herní situace a nezávislost kategorií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profil podle situace a kontingenční tabulky (χ² diagram, Cramérovo V)</a:t>
            </a:r>
          </a:p>
        </p:txBody>
      </p:sp>
      <p:pic>
        <p:nvPicPr>
          <p:cNvPr id="3" name="Picture 2" descr="26_profil_situ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440680" cy="3139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Profil herních situací v prostoru parametrů střely</a:t>
            </a:r>
          </a:p>
        </p:txBody>
      </p:sp>
      <p:pic>
        <p:nvPicPr>
          <p:cNvPr id="5" name="Picture 4" descr="27_kontingence_situ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63040"/>
            <a:ext cx="5440680" cy="25008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5352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Kontingence herní situace × výsledek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H1 — srovnání rozdělení parametrů střely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krabicové grafy: vzdálenost od branky a úhel odkrytý brankou</a:t>
            </a:r>
          </a:p>
        </p:txBody>
      </p:sp>
      <p:pic>
        <p:nvPicPr>
          <p:cNvPr id="3" name="Picture 2" descr="12_zakonceni_dist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440680" cy="25585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vzdálenost od branky [m] podle zakončení</a:t>
            </a:r>
          </a:p>
        </p:txBody>
      </p:sp>
      <p:pic>
        <p:nvPicPr>
          <p:cNvPr id="5" name="Picture 4" descr="24_situace_angle_d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63040"/>
            <a:ext cx="5440680" cy="25605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5352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úhel odkrytý brankou [°] podle herní situace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H2 — redukce dimenze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Bartlettův test sférickosti, KMO, graf úpatí, paralelní analýza, varimax rotace, komunality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489204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H2: H0 zamítáme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na α = 0,05 prokazujeme společnou korelační strukturu: z 5 příznaků stačí 1 komponenta (Kaiserovo kritérium ani paralelní analýza nechtějí více) — vysvětluje 60,7 % celkového rozptylu; na 2 komponenty se dostaneme na 80,7 %.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Redukce má obsažový základ: geometrické veličiny (vzdálenost, úhel, X, Y) jsou jen různými pohledy na touž věc — polohu střelce — a xG je na ni vázáno.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První komponenta je tedy „osou obtížnosti šance“ a pro shlukování (H3) pracujeme v 2 rozměrech, abychom neshodili i sekundární strukturu.</a:t>
            </a:r>
          </a:p>
        </p:txBody>
      </p:sp>
      <p:pic>
        <p:nvPicPr>
          <p:cNvPr id="4" name="Picture 3" descr="31_scree_paralel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989320" cy="22072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5971032"/>
            <a:ext cx="59893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Graf úpatí, Kaiserovo kritérium a paralelní analýza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H2 — biplot a rotované faktory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které příznaky drží první komponentu a co se změní po rotaci</a:t>
            </a:r>
          </a:p>
        </p:txBody>
      </p:sp>
      <p:pic>
        <p:nvPicPr>
          <p:cNvPr id="3" name="Picture 2" descr="32_bi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440680" cy="38433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Rozptýlený diagram komponentního skóre</a:t>
            </a:r>
          </a:p>
        </p:txBody>
      </p:sp>
      <p:pic>
        <p:nvPicPr>
          <p:cNvPr id="5" name="Picture 4" descr="33_rotace_komun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63040"/>
            <a:ext cx="5440680" cy="2054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5352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Zátěže před a po rotaci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H3 — shluková struktura střel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Wardova metoda, K-means, permutační test silhouette, stabilita rozdělení (ARI)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489204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H3: H0 zamítáme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v datech prokazujeme přirozenou skupinovou strukturu; optimální počet shluků je 2 (silhouette 0,503, permutační p = 0,0050).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Nejúspěšnější shluk (shluk 1, n = 100) má úspěšnost 30,0 % oproti celkovému průměru 8,2 % — shrnutí je obsahově čitelné (poloha × kvalita šance).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V t-SNE projekci se shlupy částečně promíchaly (ARI = 0,260) — struktura je do jisté míry nelineární a lineární metrika část informací ztratila.</a:t>
            </a:r>
          </a:p>
        </p:txBody>
      </p:sp>
      <p:pic>
        <p:nvPicPr>
          <p:cNvPr id="4" name="Picture 3" descr="41_validace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989320" cy="18270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5971032"/>
            <a:ext cx="59893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Validace počtu shluků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H3 — shluky na hřišti a jejich profil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kde na hřišti které shluky leží a čím se liší (úspěšnost, poloha, xG)</a:t>
            </a:r>
          </a:p>
        </p:txBody>
      </p:sp>
      <p:pic>
        <p:nvPicPr>
          <p:cNvPr id="3" name="Picture 2" descr="42_shluky_hri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23" y="1463040"/>
            <a:ext cx="5121074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Poloha střel podle shluku</a:t>
            </a:r>
          </a:p>
        </p:txBody>
      </p:sp>
      <p:pic>
        <p:nvPicPr>
          <p:cNvPr id="5" name="Picture 4" descr="43_profil_shluk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63040"/>
            <a:ext cx="5440680" cy="25454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5352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Profil shluků v standardizovaném prostoru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H3 — dendrogram a kontrola nelinearity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hierarchický pohled (Ward) a t-SNE projekce</a:t>
            </a:r>
          </a:p>
        </p:txBody>
      </p:sp>
      <p:pic>
        <p:nvPicPr>
          <p:cNvPr id="3" name="Picture 2" descr="40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440680" cy="22871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Dendrogram Wardovy metody</a:t>
            </a:r>
          </a:p>
        </p:txBody>
      </p:sp>
      <p:pic>
        <p:nvPicPr>
          <p:cNvPr id="5" name="Picture 4" descr="44_ts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322" y="1463040"/>
            <a:ext cx="4952739" cy="39776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5352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t-SNE projekce s vyznačenými shluky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H4 — model úspěšnosti střely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logistická regrese, Waldovy testy, šance (OR), AUC, cross-validace, 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4892040" cy="4663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H4: H0 zamítáme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pravděpodobnost gólu je průkazně vysvětlitelná zvolenými příznaky, přičemž nositelem efektu je hlavně kvalita šance (xG).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Samotná poloha (vzdálenost a úhel) sice rozliší gól od bez gólu lépe než průměr (LR test p &lt; 0,001), ale nad rámec xG už žádnou informaci nepřidává (LR test χ²(2) = 2,15, p = 0,3418) — informace o poloze je už v xG obsažena a …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2262B"/>
                </a:solidFill>
              </a:rPr>
              <a:t>• Model podle celkového testu je prokazatelně lepší než model pouze s konstantou (χ²(3) = 67,05, p &lt; 0,001); model má AUC 0,745 a McFaddenovo R² 0,162.</a:t>
            </a:r>
          </a:p>
        </p:txBody>
      </p:sp>
      <p:pic>
        <p:nvPicPr>
          <p:cNvPr id="4" name="Picture 3" descr="51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350" y="1325880"/>
            <a:ext cx="5483179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5971032"/>
            <a:ext cx="59893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ROC křivky a AUC modelů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H4 — velikost efektu a kalibrace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šance příznaků a kalibrační křivka modelu (Hosmer–Lemeshow)</a:t>
            </a:r>
          </a:p>
        </p:txBody>
      </p:sp>
      <p:pic>
        <p:nvPicPr>
          <p:cNvPr id="3" name="Picture 2" descr="50_model_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440680" cy="2611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Šance (OR) příznaků modelu s 95% intervaly</a:t>
            </a:r>
          </a:p>
        </p:txBody>
      </p:sp>
      <p:pic>
        <p:nvPicPr>
          <p:cNvPr id="5" name="Picture 4" descr="53_kalib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725" y="1463040"/>
            <a:ext cx="4627934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5352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Kalibrační diagram modelu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H4 — klasifikace a mapa pravděpodobnosti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konfuse při Youdenově prahu a mapa gólových šancí pouze z polohy</a:t>
            </a:r>
          </a:p>
        </p:txBody>
      </p:sp>
      <p:pic>
        <p:nvPicPr>
          <p:cNvPr id="3" name="Picture 2" descr="52_konf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440680" cy="23448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Konfuzní matice obou modelů</a:t>
            </a:r>
          </a:p>
        </p:txBody>
      </p:sp>
      <p:pic>
        <p:nvPicPr>
          <p:cNvPr id="5" name="Picture 4" descr="54_mapa_pravdepodobnos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442" y="1463040"/>
            <a:ext cx="495850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45352" y="5468111"/>
            <a:ext cx="544068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5C6670"/>
                </a:solidFill>
              </a:rPr>
              <a:t>Mapa úspěšnosti podle vzdálenosti a úhlu pohledu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Rozsudek nad hypotézami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každý test byl vyhodnocen na α = 0,05 s explicitním závěrem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600200"/>
          <a:ext cx="7863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114800"/>
                <a:gridCol w="2560320"/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hypotéza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 zkoumáme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závěr na α = 0,05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zakončení a situace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H0 zamítáme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H2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redukce dimenze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H0 zamítáme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shluky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H0 zamítáme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H4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model úspěšnosti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62B"/>
                          </a:solidFill>
                        </a:rPr>
                        <a:t>H0 zamítáme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3931920"/>
            <a:ext cx="11185855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H1 — H0 zamítáme: typ zakončení a herní situace prokazatelně ovlivňují geometrii střely (vzdálenost od branky a úhel pohledu).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H2 — H0 zamítáme: na α = 0,05 prokazujeme společnou korelační strukturu: z 5 příznaků stačí 1 komponenta (Kaiserovo kritérium ani paralelní analýza nechtějí více) — vysvětluje 60,7 % celkového rozptylu; na 2 komponenty se dostaneme na 80,7 %.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H3 — H0 zamítáme: v datech prokazujeme přirozenou skupinovou strukturu; optimální počet shluků je 2 (silhouette 0,503, permutační p = 0,0050).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H4 — H0 zamítáme: pravděpodobnost gólu je průkazně vysvětlitelná zvolenými příznaky, přičemž nositelem efektu je hlavně kvalita šance (xG).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800" b="1">
                <a:solidFill>
                  <a:srgbClr val="1B3A5C"/>
                </a:solidFill>
              </a:rPr>
              <a:t>Závěr: co ukazuje analýza a kde jsou meze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C6670"/>
                </a:solidFill>
              </a:rPr>
              <a:t>limitace hlásíme sami, nečekáme, až se na ně zeptá zadávající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5394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1B3A5C"/>
                </a:solidFill>
              </a:rPr>
              <a:t>Co ukazuje analýza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539496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typ zakončení a herní situace prokazatelně ovlivňují geometrii střely (vzdálenost od branky a úhel pohledu).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na α = 0,05 prokazujeme společnou korelační strukturu: z 5 příznaků stačí 1 komponenta (Kaiserovo kritérium ani paralelní analýza nechtějí více) — vysvětluje 60,7 % celkového rozptylu; na 2 komponenty se dostaneme na 80,7 %.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v datech prokazujeme přirozenou skupinovou strukturu; optimální počet shluků je 2 (silhouette 0,503, permutační p = 0,0050).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pravděpodobnost gólu je průkazně vysvětlitelná zvolenými příznaky, přičemž nositelem efektu je hlavně kvalita šance (xG).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371600"/>
            <a:ext cx="5394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1B3A5C"/>
                </a:solidFill>
              </a:rPr>
              <a:t>Kde jsou meze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828800"/>
            <a:ext cx="539496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Pozor: celkové KMO je jen 0,584 (nejslabší „Y [jednotky hřiště]“ s 0,158), takže redukci bereme jako orientační zkrácení dat, ne jako důkaz, že ostatní rozměry jsou zbytečné.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V t-SNE projekci se shlupy částečně promíchaly (ARI = 0,260) — struktura je do jisté míry nelineární a lineární metrika část informací ztratila.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Po vyloučení odlehlých střel (Mahalanobisovo D², 23 řádků) se koeficienty změnily nejvýše o 0,155 a AUC z 0,745 na 0,729 → závěry nejsou dány extrémy.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2262B"/>
                </a:solidFill>
              </a:rPr>
              <a:t>• Data jsou observační, ne experimentální — model ukazuje asociaci, nikoli příčinu: z polohy nelze usuzovat, že střelec „umí“ víc, jen že střílel z lepší pozice.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8585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>
                <a:solidFill>
                  <a:srgbClr val="5C6670"/>
                </a:solidFill>
              </a:rPr>
              <a:t>Zdroj: vlastní analýza, outputs/vysledky.md ·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